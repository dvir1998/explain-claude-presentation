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D4AF37"/>
                </a:solidFill>
                <a:latin typeface="Heebo"/>
              </a:rPr>
              <a:t>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Heebo"/>
              </a:rPr>
              <a:t>מדריך הגמרא לבינה המלאכותית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4AF37"/>
                </a:solidFill>
                <a:latin typeface="Heebo"/>
              </a:rPr>
              <a:t>מאי AI? | מאי Claude? | מאי Claude Code?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Heebo"/>
              </a:rPr>
              <a:t>מוצג על ידי דביר ביטון | בינה מלאכותית בגובה האוזניים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D4AF37"/>
                </a:solidFill>
                <a:latin typeface="Heebo"/>
              </a:rPr>
              <a:t>🧠 מה זה בינה מלאכותית?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1371600"/>
          </a:xfrm>
          <a:prstGeom prst="rect">
            <a:avLst/>
          </a:prstGeom>
          <a:solidFill>
            <a:srgbClr val="1A120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  <a:latin typeface="Heebo"/>
              </a:rPr>
              <a:t>תנו רבנן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FFFFFF"/>
                </a:solidFill>
                <a:latin typeface="Heebo"/>
              </a:rPr>
              <a:t>מהי בינה מלאכותית? מחשב שלומד מדוגמאות — לא מתוכנת ידנית, אלא רואה אלפי דוגמאות ומגלה בעצמו את הדפוסים.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5303520" cy="1463040"/>
          </a:xfrm>
          <a:prstGeom prst="rect">
            <a:avLst/>
          </a:prstGeom>
          <a:solidFill>
            <a:srgbClr val="0D1A0D"/>
          </a:solidFill>
          <a:ln w="12700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52C41A"/>
                </a:solidFill>
                <a:latin typeface="Heebo"/>
              </a:rPr>
              <a:t>משל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Heebo"/>
              </a:rPr>
              <a:t>כמו ילד שלמד לזהות כלב — לא קרא מילון. הוא ראה אלף כלבים ובסוף הוא מזהה כל כלב חדש.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468880"/>
            <a:ext cx="5760720" cy="1463040"/>
          </a:xfrm>
          <a:prstGeom prst="rect">
            <a:avLst/>
          </a:prstGeom>
          <a:solidFill>
            <a:srgbClr val="000D1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A9EFF"/>
                </a:solidFill>
                <a:latin typeface="Heebo"/>
              </a:rPr>
              <a:t>ונמשל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88036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Heebo"/>
              </a:rPr>
              <a:t>AI רואה מיליוני דוגמאות — טקסטים, תמונות, קוד — ולומד דפוסים. כך הוא מבין דברים חדשים.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3383280" cy="731520"/>
          </a:xfrm>
          <a:prstGeom prst="rect">
            <a:avLst/>
          </a:prstGeom>
          <a:solidFill>
            <a:srgbClr val="0D0D0D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Heebo"/>
              </a:rPr>
              <a:t>LLM = Large Language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4114800"/>
            <a:ext cx="3383280" cy="731520"/>
          </a:xfrm>
          <a:prstGeom prst="rect">
            <a:avLst/>
          </a:prstGeom>
          <a:solidFill>
            <a:srgbClr val="0D0D0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4160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Heebo"/>
              </a:rPr>
              <a:t>טוקנים = יחידות טקסט קטנות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4114800"/>
            <a:ext cx="4114800" cy="731520"/>
          </a:xfrm>
          <a:prstGeom prst="rect">
            <a:avLst/>
          </a:prstGeom>
          <a:solidFill>
            <a:srgbClr val="0D0D0D"/>
          </a:solidFill>
          <a:ln w="12700">
            <a:solidFill>
              <a:srgbClr val="9C6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41605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Heebo"/>
              </a:rPr>
              <a:t>Claude 3.7 = עד 200K טוקנים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D4AF37"/>
                </a:solidFill>
                <a:latin typeface="Heebo"/>
              </a:rPr>
              <a:t>🤝 הכירו את Claude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1097280"/>
          </a:xfrm>
          <a:prstGeom prst="rect">
            <a:avLst/>
          </a:prstGeom>
          <a:solidFill>
            <a:srgbClr val="1A120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  <a:latin typeface="Heebo"/>
              </a:rPr>
              <a:t>תנו רבנן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Heebo"/>
              </a:rPr>
              <a:t>Anthropic יצרה את Claude ב-2021 — לא כדי לנצח, אלא כדי להיות בטוח, ישר ומועיל. Constitutional AI — AI שמחויב לערכים.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657600" cy="2286000"/>
          </a:xfrm>
          <a:prstGeom prst="rect">
            <a:avLst/>
          </a:prstGeom>
          <a:solidFill>
            <a:srgbClr val="0D0D0D"/>
          </a:solidFill>
          <a:ln w="254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4A9EFF"/>
                </a:solidFill>
                <a:latin typeface="Heebo"/>
              </a:rPr>
              <a:t>Claude Haiku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Heebo"/>
              </a:rPr>
              <a:t>מהיר וזול
משימות פשוטות
מתאים לאוטומציה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286000"/>
            <a:ext cx="3657600" cy="2286000"/>
          </a:xfrm>
          <a:prstGeom prst="rect">
            <a:avLst/>
          </a:prstGeom>
          <a:solidFill>
            <a:srgbClr val="0D0D0D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D4AF37"/>
                </a:solidFill>
                <a:latin typeface="Heebo"/>
              </a:rPr>
              <a:t>Claude Sonnet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4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Heebo"/>
              </a:rPr>
              <a:t>מאוזן ⭐
איכות גבוהה
המלצה לרוב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286000"/>
            <a:ext cx="3657600" cy="2286000"/>
          </a:xfrm>
          <a:prstGeom prst="rect">
            <a:avLst/>
          </a:prstGeom>
          <a:solidFill>
            <a:srgbClr val="0D0D0D"/>
          </a:solidFill>
          <a:ln w="25400">
            <a:solidFill>
              <a:srgbClr val="9C6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9C6FE4"/>
                </a:solidFill>
                <a:latin typeface="Heebo"/>
              </a:rPr>
              <a:t>Claude Opus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83464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Heebo"/>
              </a:rPr>
              <a:t>הכי חכם
משימות מורכבות
הכי יקר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D4AF37"/>
                </a:solidFill>
                <a:latin typeface="Heebo"/>
              </a:rPr>
              <a:t>💡 כלל אצבע: Sonnet לרוב המשימות | Opus לאתגרים קשים | Haiku לאוטומציה מהירה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D4AF37"/>
                </a:solidFill>
                <a:latin typeface="Heebo"/>
              </a:rPr>
              <a:t>💬 claude.ai — ממשק הצ׳אט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Heebo"/>
              </a:rPr>
              <a:t>● ● ●   https://claude.ai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4114800"/>
          </a:xfrm>
          <a:prstGeom prst="rect">
            <a:avLst/>
          </a:prstGeom>
          <a:solidFill>
            <a:srgbClr val="050505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2011680" cy="41148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Heebo"/>
              </a:rPr>
              <a:t>Projects
+ New Chat
─────
Recent
SQL query...
React help...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Heebo"/>
              </a:rPr>
              <a:t>claude-sonnet-4 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8888"/>
                </a:solidFill>
                <a:latin typeface="Heebo"/>
              </a:rPr>
              <a:t>How can I help you today?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4846320"/>
            <a:ext cx="82296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4892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Heebo"/>
              </a:rPr>
              <a:t>Message Claude...                                              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C41A"/>
                </a:solidFill>
                <a:latin typeface="Heebo"/>
              </a:rPr>
              <a:t>→ Projects = זיכרון קבוע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9EFF"/>
                </a:solidFill>
                <a:latin typeface="Heebo"/>
              </a:rPr>
              <a:t>→ בחירת מודל (Sonnet/Opus/Haiku)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4AF37"/>
                </a:solidFill>
                <a:latin typeface="Heebo"/>
              </a:rPr>
              <a:t>⌨️ Enter = שליחה | Shift+Enter = שורה חדשה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D4AF37"/>
                </a:solidFill>
                <a:latin typeface="Heebo"/>
              </a:rPr>
              <a:t>✨ Artifacts ו-Projects — הכוח האמיתי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5577840" cy="3474720"/>
          </a:xfrm>
          <a:prstGeom prst="rect">
            <a:avLst/>
          </a:prstGeom>
          <a:solidFill>
            <a:srgbClr val="1A1200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D4AF37"/>
                </a:solidFill>
                <a:latin typeface="Heebo"/>
              </a:rPr>
              <a:t>🎨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Heebo"/>
              </a:rPr>
              <a:t>Claude יוצר קוד, HTML ואפליקציות שעובדות בזמן אמת ממש בתוך הדפדפן!
• 'צור מחשבון React' → מחשבון אינטראקטיבי
• 'צור גרף נתונים' → גרף מונפש
• 'צור לוח משחק' → משחק שעובד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05840"/>
            <a:ext cx="5486400" cy="3474720"/>
          </a:xfrm>
          <a:prstGeom prst="rect">
            <a:avLst/>
          </a:prstGeom>
          <a:solidFill>
            <a:srgbClr val="0D141E"/>
          </a:solidFill>
          <a:ln w="254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4A9EFF"/>
                </a:solidFill>
                <a:latin typeface="Heebo"/>
              </a:rPr>
              <a:t>📁 Projects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Heebo"/>
              </a:rPr>
              <a:t>• זיכרון ארוך טווח בין שיחות
• שמירת הוראות קבועות (System Prompt)
• העלאת קבצים לשמירה
• עבודה צוותית משותפת
• Claude זוכר את כל ההקשר!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663440"/>
            <a:ext cx="11247120" cy="640080"/>
          </a:xfrm>
          <a:prstGeom prst="rect">
            <a:avLst/>
          </a:prstGeom>
          <a:solidFill>
            <a:srgbClr val="0D0D0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D4AF37"/>
                </a:solidFill>
                <a:latin typeface="Heebo"/>
              </a:rPr>
              <a:t>🚀 Artifacts = הסופרפאוור של Claude. במקום לקבל טקסט — אתם מקבלים מוצר עובד!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Heebo"/>
              </a:rPr>
              <a:t>פרק ה׳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Heebo"/>
              </a:rPr>
              <a:t>ההתקנה הגדולה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Heebo"/>
              </a:rPr>
              <a:t>Windows vs Mac — שתי דרכים, תוצאה אחת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D4AF37"/>
                </a:solidFill>
                <a:latin typeface="Heebo"/>
              </a:rPr>
              <a:t>🖥️ Windows vs 🍎 Mac — מה ההבדל?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5577840" cy="4389120"/>
          </a:xfrm>
          <a:prstGeom prst="rect">
            <a:avLst/>
          </a:prstGeom>
          <a:solidFill>
            <a:srgbClr val="001A33"/>
          </a:solidFill>
          <a:ln w="254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>
                <a:solidFill>
                  <a:srgbClr val="4A9EFF"/>
                </a:solidFill>
                <a:latin typeface="Heebo"/>
              </a:rPr>
              <a:t>🖥️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Heebo"/>
              </a:rPr>
              <a:t>✅ VS Code
✅ Git (להוריד בנפרד)
✅ Claude Code Extension
✅ Node.js
⏱️ מורכב יותר — אבל שווה!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05840"/>
            <a:ext cx="5486400" cy="4389120"/>
          </a:xfrm>
          <a:prstGeom prst="rect">
            <a:avLst/>
          </a:prstGeom>
          <a:solidFill>
            <a:srgbClr val="1A1A1A"/>
          </a:solidFill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Heebo"/>
              </a:rPr>
              <a:t>🍎 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Heebo"/>
              </a:rPr>
              <a:t>✅ VS Code
✅ Git (כבר מותקן)
✅ Claude Code Extension
✅ Claude Desktop (בונוס!)
⚡ קל ומהיר יותר!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4AF37"/>
                </a:solidFill>
                <a:latin typeface="Heebo"/>
              </a:rPr>
              <a:t>🎯 לשניהם: Claude Code Extension ב-VS Code = הכלי המרכזי!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50505"/>
                </a:solidFill>
                <a:latin typeface="Heebo"/>
              </a:rPr>
              <a:t>פרק ו׳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050505"/>
                </a:solidFill>
                <a:latin typeface="Heebo"/>
              </a:rPr>
              <a:t>Claude Code האולטימטיבי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50505"/>
                </a:solidFill>
                <a:latin typeface="Heebo"/>
              </a:rPr>
              <a:t>הסוכן שמפתח איתך — לא בשבילך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D4AF37"/>
                </a:solidFill>
                <a:latin typeface="Heebo"/>
              </a:rPr>
              <a:t>מאי Claude Code?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1188720"/>
          </a:xfrm>
          <a:prstGeom prst="rect">
            <a:avLst/>
          </a:prstGeom>
          <a:solidFill>
            <a:srgbClr val="1A120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  <a:latin typeface="Heebo"/>
              </a:rPr>
              <a:t>תנו רבנן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Heebo"/>
              </a:rPr>
              <a:t>Claude Code = סוכן AI שחי בתוך עורך הקוד שלך. הוא לא מחכה לשאלות — הוא קורא קבצים, כותב קוד, מריץ בדיקות ופותר בעיות לבד.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3657600" cy="2560320"/>
          </a:xfrm>
          <a:prstGeom prst="rect">
            <a:avLst/>
          </a:prstGeom>
          <a:solidFill>
            <a:srgbClr val="0D0D0D"/>
          </a:solidFill>
          <a:ln w="254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4A9EFF"/>
                </a:solidFill>
                <a:latin typeface="Heebo"/>
              </a:rPr>
              <a:t>🔌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Heebo"/>
              </a:rPr>
              <a:t>ישירות ב-VS Code
מקשיב לפקודות
גישה לכל הקבצים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377440"/>
            <a:ext cx="3657600" cy="2560320"/>
          </a:xfrm>
          <a:prstGeom prst="rect">
            <a:avLst/>
          </a:prstGeom>
          <a:solidFill>
            <a:srgbClr val="0D0D0D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D4AF37"/>
                </a:solidFill>
                <a:latin typeface="Heebo"/>
              </a:rPr>
              <a:t>⌨️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9718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Heebo"/>
              </a:rPr>
              <a:t>דרך הטרמינל
מצב Agentic
סקריפטים אוטומטיים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377440"/>
            <a:ext cx="3657600" cy="2560320"/>
          </a:xfrm>
          <a:prstGeom prst="rect">
            <a:avLst/>
          </a:prstGeom>
          <a:solidFill>
            <a:srgbClr val="0D0D0D"/>
          </a:solidFill>
          <a:ln w="25400">
            <a:solidFill>
              <a:srgbClr val="9C6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9C6FE4"/>
                </a:solidFill>
                <a:latin typeface="Heebo"/>
              </a:rPr>
              <a:t>🤖 Agentic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9718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Heebo"/>
              </a:rPr>
              <a:t>מריץ פקודות
מנהל Agent-ים
SSH לשרתים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7A3D"/>
                </a:solidFill>
                <a:latin typeface="Heebo"/>
              </a:rPr>
              <a:t>דרישה: Claude Pro (מנוי חודשי)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D4AF37"/>
                </a:solidFill>
                <a:latin typeface="Heebo"/>
              </a:rPr>
              <a:t>📋 CLAUDE.md — זיכרון הפרויקט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1188720"/>
          </a:xfrm>
          <a:prstGeom prst="rect">
            <a:avLst/>
          </a:prstGeom>
          <a:solidFill>
            <a:srgbClr val="1A120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  <a:latin typeface="Heebo"/>
              </a:rPr>
              <a:t>תנו רבנן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Heebo"/>
              </a:rPr>
              <a:t>CLAUDE.md = ה'שולחן ערוך' של הפרויקט. קובץ שClause קורא בתחילת כל שיחה — ההוראות הקבועות שלא צריך לחזור עליהן.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6400800" cy="3200400"/>
          </a:xfrm>
          <a:prstGeom prst="rect">
            <a:avLst/>
          </a:prstGeom>
          <a:solidFill>
            <a:srgbClr val="10101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6217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2C41A"/>
                </a:solidFill>
                <a:latin typeface="Courier New"/>
              </a:rPr>
              <a:t># Project: MyApp
## Tech Stack
- Next.js 14, TypeScript
- Tailwind CSS
- PostgreSQL + Prisma
## Conventions
- Hebrew comments always
- RTL support required
- Test every 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2377440"/>
            <a:ext cx="4663440" cy="3200400"/>
          </a:xfrm>
          <a:prstGeom prst="rect">
            <a:avLst/>
          </a:prstGeom>
          <a:solidFill>
            <a:srgbClr val="0D0D0D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468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4A9EFF"/>
                </a:solidFill>
                <a:latin typeface="Heebo"/>
              </a:rPr>
              <a:t>📌 מה לכלול ב-CLAUDE.md?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92608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Heebo"/>
              </a:rPr>
              <a:t>• שפות וטכנולוגיות
• קונבנציות קוד
• ארכיטקטורת הפרויקט
• כיצד להריץ בדיקות
• מי קהל היעד
• חוקים מיוחדים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D4AF37"/>
                </a:solidFill>
                <a:latin typeface="Heebo"/>
              </a:rPr>
              <a:t>🔐 מצבי הרשאות — כמה חופש נותנים ל-Claude?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solidFill>
            <a:srgbClr val="0D0D0D"/>
          </a:solidFill>
          <a:ln w="254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4A9EFF"/>
                </a:solidFill>
                <a:latin typeface="Heebo"/>
              </a:rPr>
              <a:t>Normal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Heebo"/>
              </a:rPr>
              <a:t>Claude מציע שינויים
אתה מאשר כל דבר
הכי בטוח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888888"/>
                </a:solidFill>
                <a:latin typeface="Heebo"/>
              </a:rPr>
              <a:t>💡 לקוד ייצור קריטי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097280"/>
            <a:ext cx="3657600" cy="3200400"/>
          </a:xfrm>
          <a:prstGeom prst="rect">
            <a:avLst/>
          </a:prstGeom>
          <a:solidFill>
            <a:srgbClr val="0D0D0D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D4AF37"/>
                </a:solidFill>
                <a:latin typeface="Heebo"/>
              </a:rPr>
              <a:t>Auto-Accept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9164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Heebo"/>
              </a:rPr>
              <a:t>Claude מריץ הכל לבד
מהיר מאוד
לפרויקטים מהירים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65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888888"/>
                </a:solidFill>
                <a:latin typeface="Heebo"/>
              </a:rPr>
              <a:t>💡 לפיתוח מהיר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097280"/>
            <a:ext cx="3657600" cy="3200400"/>
          </a:xfrm>
          <a:prstGeom prst="rect">
            <a:avLst/>
          </a:prstGeom>
          <a:solidFill>
            <a:srgbClr val="0D0D0D"/>
          </a:solidFill>
          <a:ln w="25400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52C41A"/>
                </a:solidFill>
                <a:latin typeface="Heebo"/>
              </a:rPr>
              <a:t>Plan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69164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Heebo"/>
              </a:rPr>
              <a:t>Claude מתכנן קודם
מראה את הצעד הבא
אתה מאשר כל שלב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65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888888"/>
                </a:solidFill>
                <a:latin typeface="Heebo"/>
              </a:rPr>
              <a:t>💡 ללמידה ורביו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72000"/>
            <a:ext cx="11247120" cy="914400"/>
          </a:xfrm>
          <a:prstGeom prst="rect">
            <a:avLst/>
          </a:prstGeom>
          <a:solidFill>
            <a:srgbClr val="1A0606"/>
          </a:solidFill>
          <a:ln w="12700">
            <a:solidFill>
              <a:srgbClr val="FF4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Heebo"/>
              </a:rPr>
              <a:t>⚠️ Auto-Accept: אף פעם לא בקוד ייצור ללא הבנת הפקודות שClaude מריץ!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C6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Heebo"/>
              </a:rPr>
              <a:t>פרק ז׳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Heebo"/>
              </a:rPr>
              <a:t>עולם הסוכנים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Heebo"/>
              </a:rPr>
              <a:t>Agents, Sub-Agents, Skills, MCP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D4AF37"/>
                </a:solidFill>
                <a:latin typeface="Heebo"/>
              </a:rPr>
              <a:t>🤖 מה זה Agent (סוכן)?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1188720"/>
          </a:xfrm>
          <a:prstGeom prst="rect">
            <a:avLst/>
          </a:prstGeom>
          <a:solidFill>
            <a:srgbClr val="1A120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  <a:latin typeface="Heebo"/>
              </a:rPr>
              <a:t>תנו רבנן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Heebo"/>
              </a:rPr>
              <a:t>Agent = Claude שמקבל משימה גדולה ופותר אותה לבד: קורא קבצים, מריץ קוד, מחפש באינטרנט, שולח מיילים — עד שהמשימה הושלמת.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468880"/>
            <a:ext cx="2011680" cy="914400"/>
          </a:xfrm>
          <a:prstGeom prst="rect">
            <a:avLst/>
          </a:prstGeom>
          <a:solidFill>
            <a:srgbClr val="14141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5146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Heebo"/>
              </a:rPr>
              <a:t>אתה
(המנהל)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Heebo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468880"/>
            <a:ext cx="2011680" cy="914400"/>
          </a:xfrm>
          <a:prstGeom prst="rect">
            <a:avLst/>
          </a:prstGeom>
          <a:solidFill>
            <a:srgbClr val="141414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25146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4AF37"/>
                </a:solidFill>
                <a:latin typeface="Heebo"/>
              </a:rPr>
              <a:t>Main
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Heebo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468880"/>
            <a:ext cx="2011680" cy="914400"/>
          </a:xfrm>
          <a:prstGeom prst="rect">
            <a:avLst/>
          </a:prstGeom>
          <a:solidFill>
            <a:srgbClr val="141414"/>
          </a:solidFill>
          <a:ln w="254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25146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9EFF"/>
                </a:solidFill>
                <a:latin typeface="Heebo"/>
              </a:rPr>
              <a:t>Sub-Agent 1
קוד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Heebo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468880"/>
            <a:ext cx="2011680" cy="914400"/>
          </a:xfrm>
          <a:prstGeom prst="rect">
            <a:avLst/>
          </a:prstGeom>
          <a:solidFill>
            <a:srgbClr val="141414"/>
          </a:solidFill>
          <a:ln w="25400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5146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2C41A"/>
                </a:solidFill>
                <a:latin typeface="Heebo"/>
              </a:rPr>
              <a:t>Sub-Agent 2
מחקר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Heebo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2468880"/>
            <a:ext cx="2011680" cy="914400"/>
          </a:xfrm>
          <a:prstGeom prst="rect">
            <a:avLst/>
          </a:prstGeom>
          <a:solidFill>
            <a:srgbClr val="141414"/>
          </a:solidFill>
          <a:ln w="25400">
            <a:solidFill>
              <a:srgbClr val="9C6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25146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C6FE4"/>
                </a:solidFill>
                <a:latin typeface="Heebo"/>
              </a:rPr>
              <a:t>Sub-Agent 3
טסטים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Heebo"/>
              </a:rPr>
              <a:t>כשמשימות מקביליות, Claude יוצר צוות של Sub-Agents שעובדים בו-זמנית — כמו צוות פיתוח שלם בשניות!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4AF37"/>
                </a:solidFill>
                <a:latin typeface="Heebo"/>
              </a:rPr>
              <a:t>🔧 Skills = כישורים מוכנים מראש | MCP = חיבור לכלים חיצוניים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Heebo"/>
              </a:rPr>
              <a:t>GitHub • Slack • Gmail • Google Calendar • Figma • ועוד 500+ כלים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D4AF37"/>
                </a:solidFill>
                <a:latin typeface="Heebo"/>
              </a:rPr>
              <a:t>🔒 אבטחה עם Claude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solidFill>
            <a:srgbClr val="1A0606"/>
          </a:solidFill>
          <a:ln w="12700">
            <a:solidFill>
              <a:srgbClr val="FF4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0">
                <a:solidFill>
                  <a:srgbClr val="FFFFFF"/>
                </a:solidFill>
                <a:latin typeface="Heebo"/>
              </a:rPr>
              <a:t>⚠️ Claude Code גישה לקוד שלך — חשוב לדעת כיצד לעבוד בבטחה!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3657600" cy="2103120"/>
          </a:xfrm>
          <a:prstGeom prst="rect">
            <a:avLst/>
          </a:prstGeom>
          <a:solidFill>
            <a:srgbClr val="0D0D0D"/>
          </a:solidFill>
          <a:ln w="25400">
            <a:solidFill>
              <a:srgbClr val="FF4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4D4F"/>
                </a:solidFill>
                <a:latin typeface="Heebo"/>
              </a:rPr>
              <a:t>⚠️ Auto-Accept זהיר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Heebo"/>
              </a:rPr>
              <a:t>לעולם אל תשתמש ב-Auto-Accept בקוד ייצור. Claude עלול למחוק קבצים חשובים.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103120"/>
            <a:ext cx="3657600" cy="2103120"/>
          </a:xfrm>
          <a:prstGeom prst="rect">
            <a:avLst/>
          </a:prstGeom>
          <a:solidFill>
            <a:srgbClr val="0D0D0D"/>
          </a:solidFill>
          <a:ln w="25400">
            <a:solidFill>
              <a:srgbClr val="FF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7A3D"/>
                </a:solidFill>
                <a:latin typeface="Heebo"/>
              </a:rPr>
              <a:t>⚠️ Prompt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6974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Heebo"/>
              </a:rPr>
              <a:t>אם Claude קורא קבצים מהאינטרנט, תוכן זדוני עלול לשכנע אותו לבצע פעולות לא רצויות.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2103120"/>
            <a:ext cx="3657600" cy="2103120"/>
          </a:xfrm>
          <a:prstGeom prst="rect">
            <a:avLst/>
          </a:prstGeom>
          <a:solidFill>
            <a:srgbClr val="0D0D0D"/>
          </a:solidFill>
          <a:ln w="25400">
            <a:solidFill>
              <a:srgbClr val="9C6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C6FE4"/>
                </a:solidFill>
                <a:latin typeface="Heebo"/>
              </a:rPr>
              <a:t>⚠️ API Keys וסיסמאות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Heebo"/>
              </a:rPr>
              <a:t>לעולם אל תכניס מפתחות API לתוך הצ'אט. השתמש ב-.gitignore ו-.env.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solidFill>
            <a:srgbClr val="0D1A0D"/>
          </a:solidFill>
          <a:ln w="12700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52C41A"/>
                </a:solidFill>
                <a:latin typeface="Heebo"/>
              </a:rPr>
              <a:t>✅ כלל הזהב: קרא מה Claude מתכנן לפני שאתה מאשר | בצע גיבויים | השתמש ב-Plan Mode לקוד רגיש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D4AF37"/>
                </a:solidFill>
                <a:latin typeface="Heebo"/>
              </a:rPr>
              <a:t>🐙 GitHub — גנזיז הקוד שלך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1097280"/>
          </a:xfrm>
          <a:prstGeom prst="rect">
            <a:avLst/>
          </a:prstGeom>
          <a:solidFill>
            <a:srgbClr val="1A120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4AF37"/>
                </a:solidFill>
                <a:latin typeface="Heebo"/>
              </a:rPr>
              <a:t>משל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Heebo"/>
              </a:rPr>
              <a:t>כמו הגניזה הקהירית — כל גרסה נשמרת לנצח. אף שורת קוד לא אובדת לעולם. ואם משהו התקלקל? חוזרים לגרסה הקודמת בשנייה.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5303520" cy="3200400"/>
          </a:xfrm>
          <a:prstGeom prst="rect">
            <a:avLst/>
          </a:prstGeom>
          <a:solidFill>
            <a:srgbClr val="0D0D0D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4A9EFF"/>
                </a:solidFill>
                <a:latin typeface="Heebo"/>
              </a:rPr>
              <a:t>📚 מושגי בסיס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Heebo"/>
              </a:rPr>
              <a:t>• Repository = תיקיית פרויקט
• Commit = שמירת שינויים
• Branch = ענף עבודה מקביל
• Push = העלאה ל-GitHub
• Pull = הורדה מ-GitHub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286000"/>
            <a:ext cx="5760720" cy="3200400"/>
          </a:xfrm>
          <a:prstGeom prst="rect">
            <a:avLst/>
          </a:prstGeom>
          <a:solidFill>
            <a:srgbClr val="0D0D0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D4AF37"/>
                </a:solidFill>
                <a:latin typeface="Heebo"/>
              </a:rPr>
              <a:t>🤖 Claude +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8803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Heebo"/>
              </a:rPr>
              <a:t>• /commit — commit אוטומטי עם הסבר
• PR Review — ביקורת קוד אוטומטית
• GitHub Actions — CI/CD עם Claude
• Code Search — חיפוש חכם בקוד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4AF37"/>
                </a:solidFill>
                <a:latin typeface="Heebo"/>
              </a:rPr>
              <a:t>🎓 לאן ממשיכים?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657600" cy="3474720"/>
          </a:xfrm>
          <a:prstGeom prst="rect">
            <a:avLst/>
          </a:prstGeom>
          <a:solidFill>
            <a:srgbClr val="0D0D0D"/>
          </a:solidFill>
          <a:ln w="254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1051560"/>
            <a:ext cx="731520" cy="457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051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50505"/>
                </a:solidFill>
                <a:latin typeface="Heeb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4A9EFF"/>
                </a:solidFill>
                <a:latin typeface="Heebo"/>
              </a:rPr>
              <a:t>claude.ai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Heebo"/>
              </a:rPr>
              <a:t>פתחו חשבון, נסו Artifacts ו-Projects. שאלו כל שאלה — Claude ישמח לעזור!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3657600" cy="3474720"/>
          </a:xfrm>
          <a:prstGeom prst="rect">
            <a:avLst/>
          </a:prstGeom>
          <a:solidFill>
            <a:srgbClr val="0D0D0D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051560"/>
            <a:ext cx="7315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051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50505"/>
                </a:solidFill>
                <a:latin typeface="Heeb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D4AF37"/>
                </a:solidFill>
                <a:latin typeface="Heebo"/>
              </a:rPr>
              <a:t>Claude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Heebo"/>
              </a:rPr>
              <a:t>התקינו את ה-Extension ב-VS Code. פתחו פרויקט, צרו CLAUDE.md, תנו לו לעבוד!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188720"/>
            <a:ext cx="3657600" cy="3474720"/>
          </a:xfrm>
          <a:prstGeom prst="rect">
            <a:avLst/>
          </a:prstGeom>
          <a:solidFill>
            <a:srgbClr val="0D0D0D"/>
          </a:solidFill>
          <a:ln w="25400">
            <a:solidFill>
              <a:srgbClr val="9C6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84080" y="1051560"/>
            <a:ext cx="731520" cy="457200"/>
          </a:xfrm>
          <a:prstGeom prst="rect">
            <a:avLst/>
          </a:prstGeom>
          <a:solidFill>
            <a:srgbClr val="9C6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1051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50505"/>
                </a:solidFill>
                <a:latin typeface="Heeb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600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9C6FE4"/>
                </a:solidFill>
                <a:latin typeface="Heebo"/>
              </a:rPr>
              <a:t>Agents &amp; 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031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Heebo"/>
              </a:rPr>
              <a:t>חקרו Skills, חברו כלים, בנו Agent שמנהל את העבודה שלכם אוטומטית!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4846320"/>
            <a:ext cx="8503920" cy="1371600"/>
          </a:xfrm>
          <a:prstGeom prst="rect">
            <a:avLst/>
          </a:prstGeom>
          <a:solidFill>
            <a:srgbClr val="1A1200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93776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4AF37"/>
                </a:solidFill>
                <a:latin typeface="Heebo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48640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Heebo"/>
              </a:rPr>
              <a:t>בינה מלאכותית בגובה האוזניים | by דביר ביטון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